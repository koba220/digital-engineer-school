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214D43"/>
                </a:solidFill>
                <a:latin typeface="Noto Sans JP"/>
              </a:defRPr>
            </a:pPr>
            <a:r>
              <a:t>プロジェクト報告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72B3A"/>
                </a:solidFill>
                <a:latin typeface="Noto Sans JP"/>
              </a:defRPr>
            </a:pPr>
            <a:r>
              <a:t>[プロジェクト名]</a:t>
            </a:r>
          </a:p>
          <a:p>
            <a:pPr>
              <a:spcAft>
                <a:spcPts val="1200"/>
              </a:spcAft>
              <a:defRPr sz="2300" b="0">
                <a:solidFill>
                  <a:srgbClr val="172B3A"/>
                </a:solidFill>
                <a:latin typeface="Noto Sans JP"/>
              </a:defRPr>
            </a:pPr>
            <a:r>
              <a:t>[担当部署・発表者]</a:t>
            </a:r>
          </a:p>
          <a:p>
            <a:pPr>
              <a:spcAft>
                <a:spcPts val="1200"/>
              </a:spcAft>
              <a:defRPr sz="2300" b="0">
                <a:solidFill>
                  <a:srgbClr val="172B3A"/>
                </a:solidFill>
                <a:latin typeface="Noto Sans JP"/>
              </a:defRPr>
            </a:pPr>
            <a:r>
              <a:t>[日付]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87C89"/>
                </a:solidFill>
                <a:latin typeface="Noto Sans JP"/>
              </a:defRPr>
            </a:pPr>
            <a:r>
              <a:t>デジタルエンジニア学校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636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87C89"/>
                </a:solidFill>
                <a:latin typeface="Noto Sans JP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214D43"/>
                </a:solidFill>
                <a:latin typeface="Noto Sans JP"/>
              </a:defRPr>
            </a:pPr>
            <a:r>
              <a:t>今週の進捗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72B3A"/>
                </a:solidFill>
                <a:latin typeface="Noto Sans JP"/>
              </a:defRPr>
            </a:pPr>
            <a:r>
              <a:t>[今回伝えたい結論を1文で]</a:t>
            </a:r>
          </a:p>
          <a:p>
            <a:pPr>
              <a:spcAft>
                <a:spcPts val="1200"/>
              </a:spcAft>
              <a:defRPr sz="2300" b="0">
                <a:solidFill>
                  <a:srgbClr val="172B3A"/>
                </a:solidFill>
                <a:latin typeface="Noto Sans JP"/>
              </a:defRPr>
            </a:pPr>
          </a:p>
          <a:p>
            <a:pPr>
              <a:spcAft>
                <a:spcPts val="1200"/>
              </a:spcAft>
              <a:defRPr sz="2300" b="0">
                <a:solidFill>
                  <a:srgbClr val="172B3A"/>
                </a:solidFill>
                <a:latin typeface="Noto Sans JP"/>
              </a:defRPr>
            </a:pPr>
            <a:r>
              <a:t>完了したこと</a:t>
            </a:r>
          </a:p>
          <a:p>
            <a:pPr>
              <a:spcAft>
                <a:spcPts val="1200"/>
              </a:spcAft>
              <a:defRPr sz="2300" b="0">
                <a:solidFill>
                  <a:srgbClr val="172B3A"/>
                </a:solidFill>
                <a:latin typeface="Noto Sans JP"/>
              </a:defRPr>
            </a:pPr>
            <a:r>
              <a:t>[成果物・確認結果]</a:t>
            </a:r>
          </a:p>
          <a:p>
            <a:pPr>
              <a:spcAft>
                <a:spcPts val="1200"/>
              </a:spcAft>
              <a:defRPr sz="2300" b="0">
                <a:solidFill>
                  <a:srgbClr val="172B3A"/>
                </a:solidFill>
                <a:latin typeface="Noto Sans JP"/>
              </a:defRPr>
            </a:pPr>
          </a:p>
          <a:p>
            <a:pPr>
              <a:spcAft>
                <a:spcPts val="1200"/>
              </a:spcAft>
              <a:defRPr sz="2300" b="0">
                <a:solidFill>
                  <a:srgbClr val="172B3A"/>
                </a:solidFill>
                <a:latin typeface="Noto Sans JP"/>
              </a:defRPr>
            </a:pPr>
            <a:r>
              <a:t>次に進めること</a:t>
            </a:r>
          </a:p>
          <a:p>
            <a:pPr>
              <a:spcAft>
                <a:spcPts val="1200"/>
              </a:spcAft>
              <a:defRPr sz="2300" b="0">
                <a:solidFill>
                  <a:srgbClr val="172B3A"/>
                </a:solidFill>
                <a:latin typeface="Noto Sans JP"/>
              </a:defRPr>
            </a:pPr>
            <a:r>
              <a:t>[担当者・期限]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87C89"/>
                </a:solidFill>
                <a:latin typeface="Noto Sans JP"/>
              </a:defRPr>
            </a:pPr>
            <a:r>
              <a:t>デジタルエンジニア学校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636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87C89"/>
                </a:solidFill>
                <a:latin typeface="Noto Sans JP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214D43"/>
                </a:solidFill>
                <a:latin typeface="Noto Sans JP"/>
              </a:defRPr>
            </a:pPr>
            <a:r>
              <a:t>相談したい課題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72B3A"/>
                </a:solidFill>
                <a:latin typeface="Noto Sans JP"/>
              </a:defRPr>
            </a:pPr>
            <a:r>
              <a:t>[判断してほしいこと]</a:t>
            </a:r>
          </a:p>
          <a:p>
            <a:pPr>
              <a:spcAft>
                <a:spcPts val="1200"/>
              </a:spcAft>
              <a:defRPr sz="2300" b="0">
                <a:solidFill>
                  <a:srgbClr val="172B3A"/>
                </a:solidFill>
                <a:latin typeface="Noto Sans JP"/>
              </a:defRPr>
            </a:pPr>
          </a:p>
          <a:p>
            <a:pPr>
              <a:spcAft>
                <a:spcPts val="1200"/>
              </a:spcAft>
              <a:defRPr sz="2300" b="0">
                <a:solidFill>
                  <a:srgbClr val="172B3A"/>
                </a:solidFill>
                <a:latin typeface="Noto Sans JP"/>
              </a:defRPr>
            </a:pPr>
            <a:r>
              <a:t>現状と影響</a:t>
            </a:r>
          </a:p>
          <a:p>
            <a:pPr>
              <a:spcAft>
                <a:spcPts val="1200"/>
              </a:spcAft>
              <a:defRPr sz="2300" b="0">
                <a:solidFill>
                  <a:srgbClr val="172B3A"/>
                </a:solidFill>
                <a:latin typeface="Noto Sans JP"/>
              </a:defRPr>
            </a:pPr>
            <a:r>
              <a:t>[課題が起きる条件・影響する範囲]</a:t>
            </a:r>
          </a:p>
          <a:p>
            <a:pPr>
              <a:spcAft>
                <a:spcPts val="1200"/>
              </a:spcAft>
              <a:defRPr sz="2300" b="0">
                <a:solidFill>
                  <a:srgbClr val="172B3A"/>
                </a:solidFill>
                <a:latin typeface="Noto Sans JP"/>
              </a:defRPr>
            </a:pPr>
          </a:p>
          <a:p>
            <a:pPr>
              <a:spcAft>
                <a:spcPts val="1200"/>
              </a:spcAft>
              <a:defRPr sz="2300" b="0">
                <a:solidFill>
                  <a:srgbClr val="172B3A"/>
                </a:solidFill>
                <a:latin typeface="Noto Sans JP"/>
              </a:defRPr>
            </a:pPr>
            <a:r>
              <a:t>提案と依頼</a:t>
            </a:r>
          </a:p>
          <a:p>
            <a:pPr>
              <a:spcAft>
                <a:spcPts val="1200"/>
              </a:spcAft>
              <a:defRPr sz="2300" b="0">
                <a:solidFill>
                  <a:srgbClr val="172B3A"/>
                </a:solidFill>
                <a:latin typeface="Noto Sans JP"/>
              </a:defRPr>
            </a:pPr>
            <a:r>
              <a:t>[対応案・必要な支援・判断期限]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87C89"/>
                </a:solidFill>
                <a:latin typeface="Noto Sans JP"/>
              </a:defRPr>
            </a:pPr>
            <a:r>
              <a:t>デジタルエンジニア学校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636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87C89"/>
                </a:solidFill>
                <a:latin typeface="Noto Sans JP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214D43"/>
                </a:solidFill>
                <a:latin typeface="Noto Sans JP"/>
              </a:defRPr>
            </a:pPr>
            <a:r>
              <a:t>システム構成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72B3A"/>
                </a:solidFill>
                <a:latin typeface="Noto Sans JP"/>
              </a:defRPr>
            </a:pPr>
            <a:r>
              <a:t>[構成図・画面イメージをここに配置]</a:t>
            </a:r>
          </a:p>
          <a:p>
            <a:pPr>
              <a:spcAft>
                <a:spcPts val="1200"/>
              </a:spcAft>
              <a:defRPr sz="2300" b="0">
                <a:solidFill>
                  <a:srgbClr val="172B3A"/>
                </a:solidFill>
                <a:latin typeface="Noto Sans JP"/>
              </a:defRPr>
            </a:pPr>
          </a:p>
          <a:p>
            <a:pPr>
              <a:spcAft>
                <a:spcPts val="1200"/>
              </a:spcAft>
              <a:defRPr sz="2300" b="0">
                <a:solidFill>
                  <a:srgbClr val="172B3A"/>
                </a:solidFill>
                <a:latin typeface="Noto Sans JP"/>
              </a:defRPr>
            </a:pPr>
            <a:r>
              <a:t>利用者　[対象ユーザー]</a:t>
            </a:r>
          </a:p>
          <a:p>
            <a:pPr>
              <a:spcAft>
                <a:spcPts val="1200"/>
              </a:spcAft>
              <a:defRPr sz="2300" b="0">
                <a:solidFill>
                  <a:srgbClr val="172B3A"/>
                </a:solidFill>
                <a:latin typeface="Noto Sans JP"/>
              </a:defRPr>
            </a:pPr>
            <a:r>
              <a:t>処理　　[入力から結果までの流れ]</a:t>
            </a:r>
          </a:p>
          <a:p>
            <a:pPr>
              <a:spcAft>
                <a:spcPts val="1200"/>
              </a:spcAft>
              <a:defRPr sz="2300" b="0">
                <a:solidFill>
                  <a:srgbClr val="172B3A"/>
                </a:solidFill>
                <a:latin typeface="Noto Sans JP"/>
              </a:defRPr>
            </a:pPr>
            <a:r>
              <a:t>連携　　[外部サービス・保存先]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87C89"/>
                </a:solidFill>
                <a:latin typeface="Noto Sans JP"/>
              </a:defRPr>
            </a:pPr>
            <a:r>
              <a:t>デジタルエンジニア学校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636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87C89"/>
                </a:solidFill>
                <a:latin typeface="Noto Sans JP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214D43"/>
                </a:solidFill>
                <a:latin typeface="Noto Sans JP"/>
              </a:defRPr>
            </a:pPr>
            <a:r>
              <a:t>スプリントの結果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72B3A"/>
                </a:solidFill>
                <a:latin typeface="Noto Sans JP"/>
              </a:defRPr>
            </a:pPr>
            <a:r>
              <a:t>[今回のスプリント名]</a:t>
            </a:r>
          </a:p>
          <a:p>
            <a:pPr>
              <a:spcAft>
                <a:spcPts val="1200"/>
              </a:spcAft>
              <a:defRPr sz="2300" b="0">
                <a:solidFill>
                  <a:srgbClr val="172B3A"/>
                </a:solidFill>
                <a:latin typeface="Noto Sans JP"/>
              </a:defRPr>
            </a:pPr>
          </a:p>
          <a:p>
            <a:pPr>
              <a:spcAft>
                <a:spcPts val="1200"/>
              </a:spcAft>
              <a:defRPr sz="2300" b="0">
                <a:solidFill>
                  <a:srgbClr val="172B3A"/>
                </a:solidFill>
                <a:latin typeface="Noto Sans JP"/>
              </a:defRPr>
            </a:pPr>
            <a:r>
              <a:t>目標　[スプリントの目標]</a:t>
            </a:r>
          </a:p>
          <a:p>
            <a:pPr>
              <a:spcAft>
                <a:spcPts val="1200"/>
              </a:spcAft>
              <a:defRPr sz="2300" b="0">
                <a:solidFill>
                  <a:srgbClr val="172B3A"/>
                </a:solidFill>
                <a:latin typeface="Noto Sans JP"/>
              </a:defRPr>
            </a:pPr>
            <a:r>
              <a:t>結果　[達成したこと・未完了のこと]</a:t>
            </a:r>
          </a:p>
          <a:p>
            <a:pPr>
              <a:spcAft>
                <a:spcPts val="1200"/>
              </a:spcAft>
              <a:defRPr sz="2300" b="0">
                <a:solidFill>
                  <a:srgbClr val="172B3A"/>
                </a:solidFill>
                <a:latin typeface="Noto Sans JP"/>
              </a:defRPr>
            </a:pPr>
            <a:r>
              <a:t>改善　[次回変えること]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87C89"/>
                </a:solidFill>
                <a:latin typeface="Noto Sans JP"/>
              </a:defRPr>
            </a:pPr>
            <a:r>
              <a:t>デジタルエンジニア学校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636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87C89"/>
                </a:solidFill>
                <a:latin typeface="Noto Sans JP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214D43"/>
                </a:solidFill>
                <a:latin typeface="Noto Sans JP"/>
              </a:defRPr>
            </a:pPr>
            <a:r>
              <a:t>開発ロードマップ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554480"/>
          <a:ext cx="107899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694944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Noto Sans JP"/>
                        </a:defRPr>
                      </a:pPr>
                      <a:r>
                        <a:t>工程</a:t>
                      </a:r>
                    </a:p>
                  </a:txBody>
                  <a:tcPr>
                    <a:solidFill>
                      <a:srgbClr val="214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Noto Sans JP"/>
                        </a:defRPr>
                      </a:pPr>
                      <a:r>
                        <a:t>第1週</a:t>
                      </a:r>
                    </a:p>
                  </a:txBody>
                  <a:tcPr>
                    <a:solidFill>
                      <a:srgbClr val="214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Noto Sans JP"/>
                        </a:defRPr>
                      </a:pPr>
                      <a:r>
                        <a:t>第2週</a:t>
                      </a:r>
                    </a:p>
                  </a:txBody>
                  <a:tcPr>
                    <a:solidFill>
                      <a:srgbClr val="214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Noto Sans JP"/>
                        </a:defRPr>
                      </a:pPr>
                      <a:r>
                        <a:t>第3週</a:t>
                      </a:r>
                    </a:p>
                  </a:txBody>
                  <a:tcPr>
                    <a:solidFill>
                      <a:srgbClr val="214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Noto Sans JP"/>
                        </a:defRPr>
                      </a:pPr>
                      <a:r>
                        <a:t>第4週</a:t>
                      </a:r>
                    </a:p>
                  </a:txBody>
                  <a:tcPr>
                    <a:solidFill>
                      <a:srgbClr val="214D43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3A"/>
                          </a:solidFill>
                          <a:latin typeface="Noto Sans JP"/>
                        </a:defRPr>
                      </a:pPr>
                      <a:r>
                        <a:t>要件・設計</a:t>
                      </a:r>
                    </a:p>
                  </a:txBody>
                  <a:tcPr>
                    <a:solidFill>
                      <a:srgbClr val="EAF0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3A"/>
                          </a:solidFill>
                          <a:latin typeface="Noto Sans JP"/>
                        </a:defRPr>
                      </a:pPr>
                      <a:r>
                        <a:t>[予定]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3A"/>
                          </a:solidFill>
                          <a:latin typeface="Noto Sans JP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3A"/>
                          </a:solidFill>
                          <a:latin typeface="Noto Sans JP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3A"/>
                          </a:solidFill>
                          <a:latin typeface="Noto Sans JP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3A"/>
                          </a:solidFill>
                          <a:latin typeface="Noto Sans JP"/>
                        </a:defRPr>
                      </a:pPr>
                      <a:r>
                        <a:t>実装</a:t>
                      </a:r>
                    </a:p>
                  </a:txBody>
                  <a:tcPr>
                    <a:solidFill>
                      <a:srgbClr val="EAF0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3A"/>
                          </a:solidFill>
                          <a:latin typeface="Noto Sans JP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3A"/>
                          </a:solidFill>
                          <a:latin typeface="Noto Sans JP"/>
                        </a:defRPr>
                      </a:pPr>
                      <a:r>
                        <a:t>[予定]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3A"/>
                          </a:solidFill>
                          <a:latin typeface="Noto Sans JP"/>
                        </a:defRPr>
                      </a:pPr>
                      <a:r>
                        <a:t>[予定]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3A"/>
                          </a:solidFill>
                          <a:latin typeface="Noto Sans JP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3A"/>
                          </a:solidFill>
                          <a:latin typeface="Noto Sans JP"/>
                        </a:defRPr>
                      </a:pPr>
                      <a:r>
                        <a:t>検証</a:t>
                      </a:r>
                    </a:p>
                  </a:txBody>
                  <a:tcPr>
                    <a:solidFill>
                      <a:srgbClr val="EAF0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3A"/>
                          </a:solidFill>
                          <a:latin typeface="Noto Sans JP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3A"/>
                          </a:solidFill>
                          <a:latin typeface="Noto Sans JP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3A"/>
                          </a:solidFill>
                          <a:latin typeface="Noto Sans JP"/>
                        </a:defRPr>
                      </a:pPr>
                      <a:r>
                        <a:t>[予定]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3A"/>
                          </a:solidFill>
                          <a:latin typeface="Noto Sans JP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3A"/>
                          </a:solidFill>
                          <a:latin typeface="Noto Sans JP"/>
                        </a:defRPr>
                      </a:pPr>
                      <a:r>
                        <a:t>公開・振り返り</a:t>
                      </a:r>
                    </a:p>
                  </a:txBody>
                  <a:tcPr>
                    <a:solidFill>
                      <a:srgbClr val="EAF0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3A"/>
                          </a:solidFill>
                          <a:latin typeface="Noto Sans JP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3A"/>
                          </a:solidFill>
                          <a:latin typeface="Noto Sans JP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3A"/>
                          </a:solidFill>
                          <a:latin typeface="Noto Sans JP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3A"/>
                          </a:solidFill>
                          <a:latin typeface="Noto Sans JP"/>
                        </a:defRPr>
                      </a:pPr>
                      <a:r>
                        <a:t>[予定]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687C89"/>
                </a:solidFill>
                <a:latin typeface="Noto Sans JP"/>
              </a:defRPr>
            </a:pPr>
            <a:r>
              <a:t>[各工程の担当者と完了条件を記入]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87C89"/>
                </a:solidFill>
                <a:latin typeface="Noto Sans JP"/>
              </a:defRPr>
            </a:pPr>
            <a:r>
              <a:t>デジタルエンジニア学校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